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6" r:id="rId2"/>
    <p:sldId id="257" r:id="rId3"/>
    <p:sldId id="273" r:id="rId4"/>
    <p:sldId id="259" r:id="rId5"/>
    <p:sldId id="275" r:id="rId6"/>
    <p:sldId id="261" r:id="rId7"/>
    <p:sldId id="262" r:id="rId8"/>
    <p:sldId id="276" r:id="rId9"/>
    <p:sldId id="277" r:id="rId10"/>
    <p:sldId id="260" r:id="rId11"/>
    <p:sldId id="27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36" d="100"/>
          <a:sy n="36" d="100"/>
        </p:scale>
        <p:origin x="1844" y="64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3/4/2026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5249D8-E7C2-B93E-B1BA-B0F7699365DC}"/>
              </a:ext>
            </a:extLst>
          </p:cNvPr>
          <p:cNvSpPr txBox="1"/>
          <p:nvPr/>
        </p:nvSpPr>
        <p:spPr>
          <a:xfrm>
            <a:off x="91440" y="142240"/>
            <a:ext cx="12110720" cy="7448193"/>
          </a:xfrm>
          <a:prstGeom prst="rect">
            <a:avLst/>
          </a:prstGeom>
          <a:noFill/>
        </p:spPr>
        <p:txBody>
          <a:bodyPr wrap="square" rtlCol="0">
            <a:spAutoFit/>
          </a:bodyPr>
          <a:lstStyle/>
          <a:p>
            <a:pPr algn="ctr"/>
            <a:endParaRPr lang="en-US" sz="4400" dirty="0"/>
          </a:p>
          <a:p>
            <a:pPr algn="ctr"/>
            <a:r>
              <a:rPr lang="en-US" sz="8000" dirty="0">
                <a:solidFill>
                  <a:schemeClr val="accent3"/>
                </a:solidFill>
              </a:rPr>
              <a:t> </a:t>
            </a:r>
            <a:r>
              <a:rPr lang="en-US" sz="8000" b="1" dirty="0">
                <a:solidFill>
                  <a:schemeClr val="accent3"/>
                </a:solidFill>
                <a:latin typeface="Algerian" panose="04020705040A02060702" pitchFamily="82" charset="0"/>
              </a:rPr>
              <a:t>HTML Tags And Their Use Cases</a:t>
            </a:r>
          </a:p>
          <a:p>
            <a:pPr algn="ctr"/>
            <a:endParaRPr lang="en-US" sz="5400" dirty="0">
              <a:solidFill>
                <a:srgbClr val="FF0000"/>
              </a:solidFill>
            </a:endParaRPr>
          </a:p>
          <a:p>
            <a:pPr marL="571500" indent="-571500" algn="just">
              <a:buFont typeface="Wingdings" panose="05000000000000000000" pitchFamily="2" charset="2"/>
              <a:buChar char="q"/>
            </a:pPr>
            <a:r>
              <a:rPr lang="en-US" sz="4400" dirty="0">
                <a:latin typeface="Arial Black" panose="020B0A04020102020204" pitchFamily="34" charset="0"/>
              </a:rPr>
              <a:t>Presented by</a:t>
            </a:r>
            <a:r>
              <a:rPr lang="en-US" sz="4400" dirty="0">
                <a:latin typeface="Arial Narrow" panose="020B0606020202030204" pitchFamily="34" charset="0"/>
              </a:rPr>
              <a:t>: </a:t>
            </a:r>
            <a:r>
              <a:rPr lang="en-US" sz="4400" dirty="0">
                <a:latin typeface="Arial Rounded MT Bold" panose="020F0704030504030204" pitchFamily="34" charset="0"/>
              </a:rPr>
              <a:t>Doh Finley.</a:t>
            </a:r>
          </a:p>
          <a:p>
            <a:pPr marL="1028700" lvl="1" indent="-571500" algn="just">
              <a:buFont typeface="Wingdings" panose="05000000000000000000" pitchFamily="2" charset="2"/>
              <a:buChar char="q"/>
            </a:pPr>
            <a:r>
              <a:rPr lang="en-US" sz="4400" dirty="0">
                <a:latin typeface="Arial Black" panose="020B0A04020102020204" pitchFamily="34" charset="0"/>
              </a:rPr>
              <a:t>School: </a:t>
            </a:r>
            <a:r>
              <a:rPr lang="en-US" sz="4000" dirty="0">
                <a:latin typeface="Arial Rounded MT Bold" panose="020F0704030504030204" pitchFamily="34" charset="0"/>
              </a:rPr>
              <a:t>CITECHITM</a:t>
            </a:r>
            <a:r>
              <a:rPr lang="en-US" sz="4400" dirty="0">
                <a:latin typeface="Arial Rounded MT Bold" panose="020F0704030504030204" pitchFamily="34" charset="0"/>
              </a:rPr>
              <a:t> University.</a:t>
            </a:r>
          </a:p>
          <a:p>
            <a:pPr marL="571500" indent="-571500" algn="just">
              <a:buFont typeface="Wingdings" panose="05000000000000000000" pitchFamily="2" charset="2"/>
              <a:buChar char="q"/>
            </a:pPr>
            <a:r>
              <a:rPr lang="en-US" sz="4400" dirty="0">
                <a:latin typeface="Arial Black" panose="020B0A04020102020204" pitchFamily="34" charset="0"/>
              </a:rPr>
              <a:t>Department</a:t>
            </a:r>
            <a:r>
              <a:rPr lang="en-US" sz="4400" dirty="0">
                <a:latin typeface="Arial Narrow" panose="020B0606020202030204" pitchFamily="34" charset="0"/>
              </a:rPr>
              <a:t>: </a:t>
            </a:r>
            <a:r>
              <a:rPr lang="en-US" sz="4400" dirty="0">
                <a:latin typeface="Arial Rounded MT Bold" panose="020F0704030504030204" pitchFamily="34" charset="0"/>
              </a:rPr>
              <a:t>Software Engineering</a:t>
            </a:r>
            <a:r>
              <a:rPr lang="en-US" sz="4400" dirty="0">
                <a:latin typeface="Arial Narrow" panose="020B0606020202030204" pitchFamily="34" charset="0"/>
              </a:rPr>
              <a:t>.</a:t>
            </a:r>
          </a:p>
          <a:p>
            <a:pPr marL="285750" indent="-285750" algn="just">
              <a:buFont typeface="Wingdings" panose="05000000000000000000" pitchFamily="2" charset="2"/>
              <a:buChar char="v"/>
            </a:pPr>
            <a:endParaRPr lang="en-US" sz="4400" dirty="0">
              <a:latin typeface="Arial Narrow" panose="020B0606020202030204" pitchFamily="34" charset="0"/>
            </a:endParaRPr>
          </a:p>
          <a:p>
            <a:pPr marL="685800" indent="-685800" algn="just">
              <a:buFont typeface="Wingdings" panose="05000000000000000000" pitchFamily="2" charset="2"/>
              <a:buChar char="v"/>
            </a:pPr>
            <a:r>
              <a:rPr lang="en-US" sz="4400" dirty="0">
                <a:latin typeface="Arial Narrow" panose="020B0606020202030204" pitchFamily="34" charset="0"/>
              </a:rPr>
              <a:t>Course: Introduction To Web Development</a:t>
            </a:r>
            <a:r>
              <a:rPr lang="en-US" sz="4400" dirty="0"/>
              <a:t>.</a:t>
            </a:r>
            <a:endParaRPr lang="en-US" sz="1400" dirty="0"/>
          </a:p>
        </p:txBody>
      </p:sp>
    </p:spTree>
    <p:extLst>
      <p:ext uri="{BB962C8B-B14F-4D97-AF65-F5344CB8AC3E}">
        <p14:creationId xmlns:p14="http://schemas.microsoft.com/office/powerpoint/2010/main" val="280909227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6889C6-73A7-5549-55CC-FD7636A161EA}"/>
              </a:ext>
            </a:extLst>
          </p:cNvPr>
          <p:cNvSpPr txBox="1"/>
          <p:nvPr/>
        </p:nvSpPr>
        <p:spPr>
          <a:xfrm>
            <a:off x="436880" y="1239520"/>
            <a:ext cx="11755120" cy="4832092"/>
          </a:xfrm>
          <a:prstGeom prst="rect">
            <a:avLst/>
          </a:prstGeom>
          <a:noFill/>
        </p:spPr>
        <p:txBody>
          <a:bodyPr wrap="square">
            <a:spAutoFit/>
          </a:bodyPr>
          <a:lstStyle/>
          <a:p>
            <a:r>
              <a:rPr lang="en-US" sz="2800" dirty="0"/>
              <a:t>HTML tags are special keywords used to create and structure content on web pages. They tell the browser how to display text, images, links, and other elements . </a:t>
            </a:r>
          </a:p>
          <a:p>
            <a:endParaRPr lang="en-US" sz="2800" dirty="0"/>
          </a:p>
          <a:p>
            <a:r>
              <a:rPr lang="en-US" sz="2800" b="1" dirty="0">
                <a:solidFill>
                  <a:srgbClr val="FF0000"/>
                </a:solidFill>
              </a:rPr>
              <a:t>Tags are written inside angle brackets:</a:t>
            </a:r>
          </a:p>
          <a:p>
            <a:r>
              <a:rPr lang="en-US" sz="2800" dirty="0"/>
              <a:t>&lt;tag name&gt;Content&lt;/tag name&gt;</a:t>
            </a:r>
          </a:p>
          <a:p>
            <a:endParaRPr lang="en-US" sz="2800" dirty="0"/>
          </a:p>
          <a:p>
            <a:r>
              <a:rPr lang="en-US" sz="2800" b="1" dirty="0">
                <a:solidFill>
                  <a:srgbClr val="FF0000"/>
                </a:solidFill>
              </a:rPr>
              <a:t>Most HTML tags come in pairs</a:t>
            </a:r>
            <a:r>
              <a:rPr lang="en-US" sz="2800" dirty="0">
                <a:solidFill>
                  <a:srgbClr val="FF0000"/>
                </a:solidFill>
              </a:rPr>
              <a:t>:</a:t>
            </a:r>
          </a:p>
          <a:p>
            <a:r>
              <a:rPr lang="en-US" sz="2800" dirty="0"/>
              <a:t>Opening tag: &lt;p&gt;</a:t>
            </a:r>
          </a:p>
          <a:p>
            <a:r>
              <a:rPr lang="en-US" sz="2800" dirty="0"/>
              <a:t>Closing tag: &lt;/p&gt; (note the /)</a:t>
            </a:r>
          </a:p>
          <a:p>
            <a:endParaRPr lang="en-US" sz="2800" dirty="0"/>
          </a:p>
        </p:txBody>
      </p:sp>
      <p:sp>
        <p:nvSpPr>
          <p:cNvPr id="8" name="TextBox 7">
            <a:extLst>
              <a:ext uri="{FF2B5EF4-FFF2-40B4-BE49-F238E27FC236}">
                <a16:creationId xmlns:a16="http://schemas.microsoft.com/office/drawing/2014/main" id="{A358002B-F255-3A5E-E721-CBEFA888F371}"/>
              </a:ext>
            </a:extLst>
          </p:cNvPr>
          <p:cNvSpPr txBox="1"/>
          <p:nvPr/>
        </p:nvSpPr>
        <p:spPr>
          <a:xfrm>
            <a:off x="0" y="524778"/>
            <a:ext cx="3413760" cy="523220"/>
          </a:xfrm>
          <a:prstGeom prst="rect">
            <a:avLst/>
          </a:prstGeom>
          <a:noFill/>
        </p:spPr>
        <p:txBody>
          <a:bodyPr wrap="square" rtlCol="0">
            <a:spAutoFit/>
          </a:bodyPr>
          <a:lstStyle/>
          <a:p>
            <a:r>
              <a:rPr lang="en-US" sz="2800" dirty="0">
                <a:latin typeface="Arial Black" panose="020B0A04020102020204" pitchFamily="34" charset="0"/>
              </a:rPr>
              <a:t>INTRODUCTION</a:t>
            </a:r>
          </a:p>
        </p:txBody>
      </p:sp>
    </p:spTree>
    <p:extLst>
      <p:ext uri="{BB962C8B-B14F-4D97-AF65-F5344CB8AC3E}">
        <p14:creationId xmlns:p14="http://schemas.microsoft.com/office/powerpoint/2010/main" val="135355142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00581-1569-1D33-259C-852473136C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ED71FF-3BDC-79CC-7A89-23F52500CA1A}"/>
              </a:ext>
            </a:extLst>
          </p:cNvPr>
          <p:cNvSpPr txBox="1"/>
          <p:nvPr/>
        </p:nvSpPr>
        <p:spPr>
          <a:xfrm>
            <a:off x="172720" y="162560"/>
            <a:ext cx="12019280" cy="4031873"/>
          </a:xfrm>
          <a:prstGeom prst="rect">
            <a:avLst/>
          </a:prstGeom>
          <a:noFill/>
        </p:spPr>
        <p:txBody>
          <a:bodyPr wrap="square" rtlCol="0">
            <a:spAutoFit/>
          </a:bodyPr>
          <a:lstStyle/>
          <a:p>
            <a:endParaRPr lang="en-US" sz="3200" b="1" dirty="0">
              <a:solidFill>
                <a:srgbClr val="FF0000"/>
              </a:solidFill>
            </a:endParaRPr>
          </a:p>
          <a:p>
            <a:pPr marL="457200" indent="-457200">
              <a:buFont typeface="Wingdings" panose="05000000000000000000" pitchFamily="2" charset="2"/>
              <a:buChar char="Ø"/>
            </a:pPr>
            <a:r>
              <a:rPr lang="en-US" sz="3200" b="1" dirty="0">
                <a:solidFill>
                  <a:srgbClr val="FF0000"/>
                </a:solidFill>
              </a:rPr>
              <a:t>&lt;</a:t>
            </a:r>
            <a:r>
              <a:rPr lang="en-US" sz="3200" b="1" dirty="0" err="1">
                <a:solidFill>
                  <a:srgbClr val="FF0000"/>
                </a:solidFill>
              </a:rPr>
              <a:t>img</a:t>
            </a:r>
            <a:r>
              <a:rPr lang="en-US" sz="4400" b="1" dirty="0">
                <a:solidFill>
                  <a:srgbClr val="FF0000"/>
                </a:solidFill>
              </a:rPr>
              <a:t>&gt;:</a:t>
            </a:r>
            <a:r>
              <a:rPr lang="en-US" sz="2800" dirty="0"/>
              <a:t> </a:t>
            </a:r>
          </a:p>
          <a:p>
            <a:r>
              <a:rPr lang="en-US" sz="2800" dirty="0"/>
              <a:t>Embeds an image in the document. It is a self-closing tag and requires the </a:t>
            </a:r>
            <a:r>
              <a:rPr lang="en-US" sz="2800" dirty="0" err="1"/>
              <a:t>src</a:t>
            </a:r>
            <a:r>
              <a:rPr lang="en-US" sz="2800" dirty="0"/>
              <a:t> attribute to specify the image source file and the alt attribute for a text description, which aids accessibility and SEO.</a:t>
            </a:r>
          </a:p>
          <a:p>
            <a:r>
              <a:rPr lang="en-US" sz="3200" dirty="0">
                <a:solidFill>
                  <a:srgbClr val="C00000"/>
                </a:solidFill>
              </a:rPr>
              <a:t>Example:</a:t>
            </a:r>
            <a:endParaRPr lang="en-US" sz="2800" dirty="0">
              <a:solidFill>
                <a:srgbClr val="C00000"/>
              </a:solidFill>
            </a:endParaRPr>
          </a:p>
          <a:p>
            <a:r>
              <a:rPr lang="en-US" sz="3200" dirty="0">
                <a:solidFill>
                  <a:srgbClr val="00B050"/>
                </a:solidFill>
              </a:rPr>
              <a:t>&lt;</a:t>
            </a:r>
            <a:r>
              <a:rPr lang="en-US" sz="3200" dirty="0" err="1">
                <a:solidFill>
                  <a:srgbClr val="00B050"/>
                </a:solidFill>
              </a:rPr>
              <a:t>img</a:t>
            </a:r>
            <a:r>
              <a:rPr lang="en-US" sz="3200" dirty="0">
                <a:solidFill>
                  <a:srgbClr val="00B050"/>
                </a:solidFill>
              </a:rPr>
              <a:t> </a:t>
            </a:r>
            <a:r>
              <a:rPr lang="en-US" sz="3200" dirty="0" err="1">
                <a:solidFill>
                  <a:srgbClr val="00B050"/>
                </a:solidFill>
              </a:rPr>
              <a:t>src</a:t>
            </a:r>
            <a:r>
              <a:rPr lang="en-US" sz="3200" dirty="0">
                <a:solidFill>
                  <a:srgbClr val="00B050"/>
                </a:solidFill>
              </a:rPr>
              <a:t>="image.jpg" alt="Sample Image"&gt;</a:t>
            </a:r>
          </a:p>
          <a:p>
            <a:r>
              <a:rPr lang="en-US" sz="3200" dirty="0">
                <a:solidFill>
                  <a:srgbClr val="00B050"/>
                </a:solidFill>
              </a:rPr>
              <a:t>&lt;&gt;</a:t>
            </a:r>
          </a:p>
        </p:txBody>
      </p:sp>
    </p:spTree>
    <p:extLst>
      <p:ext uri="{BB962C8B-B14F-4D97-AF65-F5344CB8AC3E}">
        <p14:creationId xmlns:p14="http://schemas.microsoft.com/office/powerpoint/2010/main" val="32092341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EF1E46-5BB1-F7E6-79EF-0C311BD39228}"/>
              </a:ext>
            </a:extLst>
          </p:cNvPr>
          <p:cNvSpPr txBox="1"/>
          <p:nvPr/>
        </p:nvSpPr>
        <p:spPr>
          <a:xfrm>
            <a:off x="254000" y="304800"/>
            <a:ext cx="11775440" cy="3570208"/>
          </a:xfrm>
          <a:prstGeom prst="rect">
            <a:avLst/>
          </a:prstGeom>
          <a:noFill/>
        </p:spPr>
        <p:txBody>
          <a:bodyPr wrap="square" rtlCol="0">
            <a:spAutoFit/>
          </a:bodyPr>
          <a:lstStyle/>
          <a:p>
            <a:pPr marL="571500" indent="-571500">
              <a:buFont typeface="Wingdings" panose="05000000000000000000" pitchFamily="2" charset="2"/>
              <a:buChar char="Ø"/>
            </a:pPr>
            <a:r>
              <a:rPr lang="en-US" sz="3600" dirty="0">
                <a:solidFill>
                  <a:srgbClr val="FF0000"/>
                </a:solidFill>
              </a:rPr>
              <a:t>&lt;html&gt;:</a:t>
            </a:r>
            <a:r>
              <a:rPr lang="en-US" sz="3600" dirty="0"/>
              <a:t> </a:t>
            </a:r>
          </a:p>
          <a:p>
            <a:r>
              <a:rPr lang="en-US" sz="2800" dirty="0"/>
              <a:t>Defines the root of an HTML document, wrapping all other elements and telling the browser that it's an HTML file. Used in every webpage to define the start and end of the HTML document.</a:t>
            </a:r>
          </a:p>
          <a:p>
            <a:r>
              <a:rPr lang="en-US" sz="2800" dirty="0">
                <a:solidFill>
                  <a:srgbClr val="C00000"/>
                </a:solidFill>
              </a:rPr>
              <a:t>Example:</a:t>
            </a:r>
            <a:r>
              <a:rPr lang="en-US" sz="2800" dirty="0"/>
              <a:t> </a:t>
            </a:r>
          </a:p>
          <a:p>
            <a:r>
              <a:rPr lang="en-US" sz="2000" dirty="0">
                <a:solidFill>
                  <a:srgbClr val="00B050"/>
                </a:solidFill>
              </a:rPr>
              <a:t>&lt;html&gt;</a:t>
            </a:r>
          </a:p>
          <a:p>
            <a:r>
              <a:rPr lang="en-US" sz="2000" dirty="0">
                <a:solidFill>
                  <a:srgbClr val="00B050"/>
                </a:solidFill>
              </a:rPr>
              <a:t>  &lt;!-- All webpage content goes here --&gt;</a:t>
            </a:r>
          </a:p>
          <a:p>
            <a:r>
              <a:rPr lang="en-US" sz="2000" dirty="0">
                <a:solidFill>
                  <a:srgbClr val="00B050"/>
                </a:solidFill>
              </a:rPr>
              <a:t>&lt;/html&gt;</a:t>
            </a:r>
          </a:p>
          <a:p>
            <a:endParaRPr lang="en-US" dirty="0"/>
          </a:p>
        </p:txBody>
      </p:sp>
    </p:spTree>
    <p:extLst>
      <p:ext uri="{BB962C8B-B14F-4D97-AF65-F5344CB8AC3E}">
        <p14:creationId xmlns:p14="http://schemas.microsoft.com/office/powerpoint/2010/main" val="6703449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D8A0A5-CDBB-6815-1749-CC39B38AFED2}"/>
              </a:ext>
            </a:extLst>
          </p:cNvPr>
          <p:cNvSpPr txBox="1"/>
          <p:nvPr/>
        </p:nvSpPr>
        <p:spPr>
          <a:xfrm>
            <a:off x="197224" y="770965"/>
            <a:ext cx="8946776" cy="3170099"/>
          </a:xfrm>
          <a:prstGeom prst="rect">
            <a:avLst/>
          </a:prstGeom>
          <a:noFill/>
        </p:spPr>
        <p:txBody>
          <a:bodyPr wrap="square">
            <a:spAutoFit/>
          </a:bodyPr>
          <a:lstStyle/>
          <a:p>
            <a:pPr marL="457200" marR="0" lvl="0" indent="-45720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&lt;h1&gt; to &lt;h6&gt;</a:t>
            </a:r>
            <a:r>
              <a:rPr kumimoji="0" lang="en-US" sz="2000" b="0" i="0" u="none" strike="noStrike" kern="1200" cap="none" spc="0" normalizeH="0" baseline="0" noProof="0" dirty="0">
                <a:ln>
                  <a:noFill/>
                </a:ln>
                <a:solidFill>
                  <a:srgbClr val="FF0000"/>
                </a:solidFill>
                <a:effectLst/>
                <a:uLnTx/>
                <a:uFillTx/>
                <a:latin typeface="Calibri" panose="020F050202020403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B05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Define HTML headings, establishing a hierarchy for the page's structure. &lt;h1&gt; is used for the most important heading (usually the main page title), and &lt;h6&gt; is for the least important subheading.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Example: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50"/>
                </a:solidFill>
                <a:effectLst/>
                <a:uLnTx/>
                <a:uFillTx/>
                <a:latin typeface="Calibri" panose="020F0502020204030204"/>
                <a:ea typeface="+mn-ea"/>
                <a:cs typeface="+mn-cs"/>
              </a:rPr>
              <a:t>&lt;h1&gt;About Us&lt;/h1&gt;</a:t>
            </a:r>
          </a:p>
        </p:txBody>
      </p:sp>
    </p:spTree>
    <p:extLst>
      <p:ext uri="{BB962C8B-B14F-4D97-AF65-F5344CB8AC3E}">
        <p14:creationId xmlns:p14="http://schemas.microsoft.com/office/powerpoint/2010/main" val="398428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26F99-3EDC-A703-5F8F-C909BF3648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C9C6DE-A8FA-DD42-0EC8-F92BAE0D659F}"/>
              </a:ext>
            </a:extLst>
          </p:cNvPr>
          <p:cNvSpPr txBox="1"/>
          <p:nvPr/>
        </p:nvSpPr>
        <p:spPr>
          <a:xfrm>
            <a:off x="0" y="0"/>
            <a:ext cx="12080240" cy="3293209"/>
          </a:xfrm>
          <a:prstGeom prst="rect">
            <a:avLst/>
          </a:prstGeom>
          <a:noFill/>
        </p:spPr>
        <p:txBody>
          <a:bodyPr wrap="square" rtlCol="0">
            <a:spAutoFit/>
          </a:bodyPr>
          <a:lstStyle/>
          <a:p>
            <a:endParaRPr lang="en-US" sz="3200" dirty="0">
              <a:solidFill>
                <a:srgbClr val="FF0000"/>
              </a:solidFill>
            </a:endParaRPr>
          </a:p>
          <a:p>
            <a:pPr marL="457200" indent="-457200">
              <a:buFont typeface="Wingdings" panose="05000000000000000000" pitchFamily="2" charset="2"/>
              <a:buChar char="Ø"/>
            </a:pPr>
            <a:r>
              <a:rPr lang="en-US" sz="3200" b="1" dirty="0">
                <a:solidFill>
                  <a:srgbClr val="FF0000"/>
                </a:solidFill>
              </a:rPr>
              <a:t>&lt;p&gt;:</a:t>
            </a:r>
            <a:r>
              <a:rPr lang="en-US" sz="3200" dirty="0">
                <a:solidFill>
                  <a:srgbClr val="FF0000"/>
                </a:solidFill>
              </a:rPr>
              <a:t> </a:t>
            </a:r>
          </a:p>
          <a:p>
            <a:r>
              <a:rPr lang="en-US" sz="2800" dirty="0"/>
              <a:t>Defines a paragraph of text. Used for writing descriptions, articles, or any text content.</a:t>
            </a:r>
          </a:p>
          <a:p>
            <a:r>
              <a:rPr lang="en-US" sz="2800" dirty="0">
                <a:solidFill>
                  <a:srgbClr val="C00000"/>
                </a:solidFill>
              </a:rPr>
              <a:t>Example:</a:t>
            </a:r>
          </a:p>
          <a:p>
            <a:r>
              <a:rPr lang="en-US" sz="2000" dirty="0">
                <a:solidFill>
                  <a:srgbClr val="00B050"/>
                </a:solidFill>
              </a:rPr>
              <a:t>&lt;p&gt;This is a paragraph of text.&lt;/p</a:t>
            </a:r>
          </a:p>
          <a:p>
            <a:endParaRPr lang="en-US" sz="2000" dirty="0">
              <a:solidFill>
                <a:srgbClr val="00B050"/>
              </a:solidFill>
            </a:endParaRPr>
          </a:p>
          <a:p>
            <a:endParaRPr lang="en-US" sz="2000" dirty="0">
              <a:solidFill>
                <a:srgbClr val="00B050"/>
              </a:solidFill>
            </a:endParaRPr>
          </a:p>
        </p:txBody>
      </p:sp>
    </p:spTree>
    <p:extLst>
      <p:ext uri="{BB962C8B-B14F-4D97-AF65-F5344CB8AC3E}">
        <p14:creationId xmlns:p14="http://schemas.microsoft.com/office/powerpoint/2010/main" val="219348539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A3794-43C4-086A-271F-460A4EA4CC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D36B4E-C10E-CEFA-9BEB-5B8A19973375}"/>
              </a:ext>
            </a:extLst>
          </p:cNvPr>
          <p:cNvSpPr txBox="1"/>
          <p:nvPr/>
        </p:nvSpPr>
        <p:spPr>
          <a:xfrm>
            <a:off x="0" y="162560"/>
            <a:ext cx="10617200" cy="4339650"/>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solidFill>
                  <a:srgbClr val="FF0000"/>
                </a:solidFill>
              </a:rPr>
              <a:t>&lt;div&gt;:</a:t>
            </a:r>
          </a:p>
          <a:p>
            <a:r>
              <a:rPr lang="en-US" dirty="0">
                <a:solidFill>
                  <a:srgbClr val="00B050"/>
                </a:solidFill>
              </a:rPr>
              <a:t> </a:t>
            </a:r>
            <a:r>
              <a:rPr lang="en-US" sz="2800" dirty="0"/>
              <a:t>Defines a division or a section in the document, primarily used as a generic container for grouping other HTML elements for styling with CSS or positioning on the page.</a:t>
            </a:r>
          </a:p>
          <a:p>
            <a:r>
              <a:rPr lang="en-US" sz="2800" dirty="0">
                <a:solidFill>
                  <a:srgbClr val="C00000"/>
                </a:solidFill>
              </a:rPr>
              <a:t>Example:</a:t>
            </a:r>
          </a:p>
          <a:p>
            <a:r>
              <a:rPr lang="en-US" sz="2000" dirty="0">
                <a:solidFill>
                  <a:srgbClr val="00B050"/>
                </a:solidFill>
              </a:rPr>
              <a:t>&lt;div&gt;</a:t>
            </a:r>
          </a:p>
          <a:p>
            <a:r>
              <a:rPr lang="en-US" sz="2000" dirty="0">
                <a:solidFill>
                  <a:srgbClr val="00B050"/>
                </a:solidFill>
              </a:rPr>
              <a:t>  &lt;p&gt;Content inside a div&lt;/p&gt;</a:t>
            </a:r>
          </a:p>
          <a:p>
            <a:r>
              <a:rPr lang="en-US" sz="2000" dirty="0">
                <a:solidFill>
                  <a:srgbClr val="00B050"/>
                </a:solidFill>
              </a:rPr>
              <a:t>&lt;/div&gt;</a:t>
            </a:r>
          </a:p>
          <a:p>
            <a:endParaRPr lang="en-US" dirty="0">
              <a:solidFill>
                <a:srgbClr val="00B050"/>
              </a:solidFill>
            </a:endParaRPr>
          </a:p>
          <a:p>
            <a:endParaRPr lang="en-US" dirty="0">
              <a:solidFill>
                <a:srgbClr val="00B050"/>
              </a:solidFill>
            </a:endParaRPr>
          </a:p>
          <a:p>
            <a:endParaRPr lang="en-US" dirty="0">
              <a:solidFill>
                <a:srgbClr val="00B050"/>
              </a:solidFill>
            </a:endParaRPr>
          </a:p>
          <a:p>
            <a:endParaRPr lang="en-US" dirty="0">
              <a:solidFill>
                <a:srgbClr val="00B050"/>
              </a:solidFill>
            </a:endParaRPr>
          </a:p>
        </p:txBody>
      </p:sp>
    </p:spTree>
    <p:extLst>
      <p:ext uri="{BB962C8B-B14F-4D97-AF65-F5344CB8AC3E}">
        <p14:creationId xmlns:p14="http://schemas.microsoft.com/office/powerpoint/2010/main" val="298488791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2A7072-B159-F0E2-F0A5-5E652A9CB23A}"/>
              </a:ext>
            </a:extLst>
          </p:cNvPr>
          <p:cNvSpPr txBox="1"/>
          <p:nvPr/>
        </p:nvSpPr>
        <p:spPr>
          <a:xfrm>
            <a:off x="322729" y="233082"/>
            <a:ext cx="8821271" cy="2739211"/>
          </a:xfrm>
          <a:prstGeom prst="rect">
            <a:avLst/>
          </a:prstGeom>
          <a:noFill/>
        </p:spPr>
        <p:txBody>
          <a:bodyPr wrap="square">
            <a:spAutoFit/>
          </a:bodyPr>
          <a:lstStyle/>
          <a:p>
            <a:pPr marL="457200" marR="0" lvl="0" indent="-45720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3200" b="1" i="0" u="none" strike="noStrike" kern="1200" cap="none" spc="0" normalizeH="0" baseline="0" noProof="0" dirty="0">
                <a:ln>
                  <a:noFill/>
                </a:ln>
                <a:solidFill>
                  <a:srgbClr val="FF0000"/>
                </a:solidFill>
                <a:effectLst/>
                <a:uLnTx/>
                <a:uFillTx/>
                <a:latin typeface="Calibri" panose="020F0502020204030204"/>
                <a:ea typeface="+mn-ea"/>
                <a:cs typeface="+mn-cs"/>
              </a:rPr>
              <a:t>&lt;a&gt;:</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Creates a hyperlink, allowing users to navigate to another web page, file, or a specific part of the current page. It uses the </a:t>
            </a:r>
            <a:r>
              <a:rPr kumimoji="0" lang="en-US" sz="2800" b="0" i="0" u="none" strike="noStrike" kern="1200" cap="none" spc="0" normalizeH="0" baseline="0" noProof="0" dirty="0" err="1">
                <a:ln>
                  <a:noFill/>
                </a:ln>
                <a:solidFill>
                  <a:prstClr val="white"/>
                </a:solidFill>
                <a:effectLst/>
                <a:uLnTx/>
                <a:uFillTx/>
                <a:latin typeface="Calibri" panose="020F0502020204030204"/>
                <a:ea typeface="+mn-ea"/>
                <a:cs typeface="+mn-cs"/>
              </a:rPr>
              <a:t>href</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attribute to specify the destination URL.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Example: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B050"/>
                </a:solidFill>
                <a:effectLst/>
                <a:uLnTx/>
                <a:uFillTx/>
                <a:latin typeface="Calibri" panose="020F0502020204030204"/>
                <a:ea typeface="+mn-ea"/>
                <a:cs typeface="+mn-cs"/>
              </a:rPr>
              <a:t>&lt;a </a:t>
            </a:r>
            <a:r>
              <a:rPr kumimoji="0" lang="en-US" sz="2800" b="0" i="0" u="none" strike="noStrike" kern="1200" cap="none" spc="0" normalizeH="0" baseline="0" noProof="0" dirty="0" err="1">
                <a:ln>
                  <a:noFill/>
                </a:ln>
                <a:solidFill>
                  <a:srgbClr val="00B050"/>
                </a:solidFill>
                <a:effectLst/>
                <a:uLnTx/>
                <a:uFillTx/>
                <a:latin typeface="Calibri" panose="020F0502020204030204"/>
                <a:ea typeface="+mn-ea"/>
                <a:cs typeface="+mn-cs"/>
              </a:rPr>
              <a:t>href</a:t>
            </a:r>
            <a:r>
              <a:rPr kumimoji="0" lang="en-US" sz="2800" b="0" i="0" u="none" strike="noStrike" kern="1200" cap="none" spc="0" normalizeH="0" baseline="0" noProof="0" dirty="0">
                <a:ln>
                  <a:noFill/>
                </a:ln>
                <a:solidFill>
                  <a:srgbClr val="00B050"/>
                </a:solidFill>
                <a:effectLst/>
                <a:uLnTx/>
                <a:uFillTx/>
                <a:latin typeface="Calibri" panose="020F0502020204030204"/>
                <a:ea typeface="+mn-ea"/>
                <a:cs typeface="+mn-cs"/>
              </a:rPr>
              <a:t>="https://example.com"&gt;Visit Example&lt;/a&gt;</a:t>
            </a:r>
          </a:p>
        </p:txBody>
      </p:sp>
    </p:spTree>
    <p:extLst>
      <p:ext uri="{BB962C8B-B14F-4D97-AF65-F5344CB8AC3E}">
        <p14:creationId xmlns:p14="http://schemas.microsoft.com/office/powerpoint/2010/main" val="531281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B6330E-A123-0C4A-336A-6CDEBC5A0A21}"/>
              </a:ext>
            </a:extLst>
          </p:cNvPr>
          <p:cNvSpPr txBox="1"/>
          <p:nvPr/>
        </p:nvSpPr>
        <p:spPr>
          <a:xfrm>
            <a:off x="143435" y="234205"/>
            <a:ext cx="11636189" cy="31700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457200" marR="0" lvl="0" indent="-45720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&lt;</a:t>
            </a:r>
            <a:r>
              <a:rPr kumimoji="0" lang="en-US" sz="3200" b="0" i="0" u="none" strike="noStrike" kern="1200" cap="none" spc="0" normalizeH="0" baseline="0" noProof="0" dirty="0" err="1">
                <a:ln>
                  <a:noFill/>
                </a:ln>
                <a:solidFill>
                  <a:srgbClr val="FF0000"/>
                </a:solidFill>
                <a:effectLst/>
                <a:uLnTx/>
                <a:uFillTx/>
                <a:latin typeface="Calibri" panose="020F0502020204030204"/>
                <a:ea typeface="+mn-ea"/>
                <a:cs typeface="+mn-cs"/>
              </a:rPr>
              <a:t>ul</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&gt;:</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Defines an unordered (bulleted) list of items. Each item within the list is specified using the &lt;li&gt; tag.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Example: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dirty="0">
                <a:ln>
                  <a:noFill/>
                </a:ln>
                <a:solidFill>
                  <a:srgbClr val="00B050"/>
                </a:solidFill>
                <a:effectLst/>
                <a:uLnTx/>
                <a:uFillTx/>
                <a:latin typeface="Calibri" panose="020F0502020204030204"/>
                <a:ea typeface="+mn-ea"/>
                <a:cs typeface="+mn-cs"/>
              </a:rPr>
              <a:t>&lt;ul&gt;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dirty="0">
                <a:ln>
                  <a:noFill/>
                </a:ln>
                <a:solidFill>
                  <a:srgbClr val="00B050"/>
                </a:solidFill>
                <a:effectLst/>
                <a:uLnTx/>
                <a:uFillTx/>
                <a:latin typeface="Calibri" panose="020F0502020204030204"/>
                <a:ea typeface="+mn-ea"/>
                <a:cs typeface="+mn-cs"/>
              </a:rPr>
              <a:t>  &lt;li&gt;Item 1&lt;/li&gt;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dirty="0">
                <a:ln>
                  <a:noFill/>
                </a:ln>
                <a:solidFill>
                  <a:srgbClr val="00B050"/>
                </a:solidFill>
                <a:effectLst/>
                <a:uLnTx/>
                <a:uFillTx/>
                <a:latin typeface="Calibri" panose="020F0502020204030204"/>
                <a:ea typeface="+mn-ea"/>
                <a:cs typeface="+mn-cs"/>
              </a:rPr>
              <a:t>  &lt;li&gt;Item 2&lt;/li&gt;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dirty="0">
                <a:ln>
                  <a:noFill/>
                </a:ln>
                <a:solidFill>
                  <a:srgbClr val="00B050"/>
                </a:solidFill>
                <a:effectLst/>
                <a:uLnTx/>
                <a:uFillTx/>
                <a:latin typeface="Calibri" panose="020F0502020204030204"/>
                <a:ea typeface="+mn-ea"/>
                <a:cs typeface="+mn-cs"/>
              </a:rPr>
              <a:t>&lt;/ul&gt;</a:t>
            </a:r>
          </a:p>
        </p:txBody>
      </p:sp>
    </p:spTree>
    <p:extLst>
      <p:ext uri="{BB962C8B-B14F-4D97-AF65-F5344CB8AC3E}">
        <p14:creationId xmlns:p14="http://schemas.microsoft.com/office/powerpoint/2010/main" val="258782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33AB-9221-3A0B-FBF9-C82A195358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BCD01E-FFE4-940E-D8A6-BE727FF72AC6}"/>
              </a:ext>
            </a:extLst>
          </p:cNvPr>
          <p:cNvSpPr txBox="1"/>
          <p:nvPr/>
        </p:nvSpPr>
        <p:spPr>
          <a:xfrm>
            <a:off x="0" y="0"/>
            <a:ext cx="12192000" cy="5509200"/>
          </a:xfrm>
          <a:prstGeom prst="rect">
            <a:avLst/>
          </a:prstGeom>
          <a:noFill/>
        </p:spPr>
        <p:txBody>
          <a:bodyPr wrap="square" rtlCol="0">
            <a:spAutoFit/>
          </a:bodyPr>
          <a:lstStyle/>
          <a:p>
            <a:endParaRPr lang="en-US" sz="3200" dirty="0">
              <a:solidFill>
                <a:srgbClr val="FF0000"/>
              </a:solidFill>
            </a:endParaRPr>
          </a:p>
          <a:p>
            <a:pPr marL="457200" indent="-457200">
              <a:buFont typeface="Wingdings" panose="05000000000000000000" pitchFamily="2" charset="2"/>
              <a:buChar char="Ø"/>
            </a:pPr>
            <a:r>
              <a:rPr lang="en-US" sz="3200" dirty="0">
                <a:solidFill>
                  <a:srgbClr val="FF0000"/>
                </a:solidFill>
              </a:rPr>
              <a:t>&lt;body&gt;: </a:t>
            </a:r>
          </a:p>
          <a:p>
            <a:r>
              <a:rPr lang="en-US" sz="3200" dirty="0">
                <a:solidFill>
                  <a:srgbClr val="FF0000"/>
                </a:solidFill>
              </a:rPr>
              <a:t> </a:t>
            </a:r>
            <a:r>
              <a:rPr lang="en-US" sz="2800" dirty="0"/>
              <a:t>Contains all visible content like text, images, and buttons. Used to display content users interact with. </a:t>
            </a:r>
          </a:p>
          <a:p>
            <a:r>
              <a:rPr lang="en-US" sz="2800" dirty="0">
                <a:solidFill>
                  <a:srgbClr val="C00000"/>
                </a:solidFill>
              </a:rPr>
              <a:t>Example:</a:t>
            </a:r>
          </a:p>
          <a:p>
            <a:r>
              <a:rPr lang="en-US" sz="2000" dirty="0">
                <a:solidFill>
                  <a:srgbClr val="00B050"/>
                </a:solidFill>
              </a:rPr>
              <a:t>&lt;body&gt;</a:t>
            </a:r>
          </a:p>
          <a:p>
            <a:r>
              <a:rPr lang="en-US" sz="2000" dirty="0">
                <a:solidFill>
                  <a:srgbClr val="00B050"/>
                </a:solidFill>
              </a:rPr>
              <a:t>  &lt;h1&gt;Hello World&lt;/h1&gt;</a:t>
            </a:r>
          </a:p>
          <a:p>
            <a:r>
              <a:rPr lang="en-US" sz="2000" dirty="0">
                <a:solidFill>
                  <a:srgbClr val="00B050"/>
                </a:solidFill>
              </a:rPr>
              <a:t>&lt;/body&gt;</a:t>
            </a:r>
          </a:p>
          <a:p>
            <a:endParaRPr lang="en-US" sz="2000" dirty="0">
              <a:solidFill>
                <a:srgbClr val="00B050"/>
              </a:solidFill>
            </a:endParaRPr>
          </a:p>
          <a:p>
            <a:endParaRPr lang="en-US" sz="2800" dirty="0">
              <a:solidFill>
                <a:srgbClr val="00B050"/>
              </a:solidFill>
            </a:endParaRPr>
          </a:p>
          <a:p>
            <a:endParaRPr lang="en-US" sz="2800" dirty="0">
              <a:solidFill>
                <a:srgbClr val="FF0000"/>
              </a:solidFill>
            </a:endParaRPr>
          </a:p>
          <a:p>
            <a:endParaRPr lang="en-US" sz="3200" dirty="0">
              <a:solidFill>
                <a:srgbClr val="FF0000"/>
              </a:solidFill>
            </a:endParaRPr>
          </a:p>
          <a:p>
            <a:endParaRPr lang="en-US" sz="3200" dirty="0">
              <a:solidFill>
                <a:srgbClr val="FF0000"/>
              </a:solidFill>
            </a:endParaRPr>
          </a:p>
        </p:txBody>
      </p:sp>
    </p:spTree>
    <p:extLst>
      <p:ext uri="{BB962C8B-B14F-4D97-AF65-F5344CB8AC3E}">
        <p14:creationId xmlns:p14="http://schemas.microsoft.com/office/powerpoint/2010/main" val="254332391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83D8276-0B4B-9A26-F658-B3E15F4A27B8}"/>
              </a:ext>
            </a:extLst>
          </p:cNvPr>
          <p:cNvSpPr txBox="1"/>
          <p:nvPr/>
        </p:nvSpPr>
        <p:spPr>
          <a:xfrm>
            <a:off x="251012" y="268942"/>
            <a:ext cx="8892988" cy="3293209"/>
          </a:xfrm>
          <a:prstGeom prst="rect">
            <a:avLst/>
          </a:prstGeom>
          <a:noFill/>
        </p:spPr>
        <p:txBody>
          <a:bodyPr wrap="square">
            <a:spAutoFit/>
          </a:bodyPr>
          <a:lstStyle/>
          <a:p>
            <a:pPr marL="571500" marR="0" lvl="0" indent="-57150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3600" b="0" i="0" u="none" strike="noStrike" kern="1200" cap="none" spc="0" normalizeH="0" baseline="0" noProof="0" dirty="0">
                <a:ln>
                  <a:noFill/>
                </a:ln>
                <a:solidFill>
                  <a:srgbClr val="FF0000"/>
                </a:solidFill>
                <a:effectLst/>
                <a:uLnTx/>
                <a:uFillTx/>
                <a:latin typeface="Calibri" panose="020F0502020204030204"/>
                <a:ea typeface="+mn-ea"/>
                <a:cs typeface="+mn-cs"/>
              </a:rPr>
              <a:t>&lt;head&gt;:</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Contains metadata about the document, such as the page title, links to stylesheets, and character set information. The content within this tag is not visible on the web page itself.</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Example: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000" b="0" i="0" u="none" strike="noStrike" kern="1200" cap="none" spc="0" normalizeH="0" baseline="0" noProof="0" dirty="0">
                <a:ln>
                  <a:noFill/>
                </a:ln>
                <a:solidFill>
                  <a:srgbClr val="00B050"/>
                </a:solidFill>
                <a:effectLst/>
                <a:uLnTx/>
                <a:uFillTx/>
                <a:latin typeface="Calibri" panose="020F0502020204030204"/>
                <a:ea typeface="+mn-ea"/>
                <a:cs typeface="+mn-cs"/>
              </a:rPr>
              <a:t>&lt;head&gt;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B050"/>
                </a:solidFill>
                <a:effectLst/>
                <a:uLnTx/>
                <a:uFillTx/>
                <a:latin typeface="Calibri" panose="020F0502020204030204"/>
                <a:ea typeface="+mn-ea"/>
                <a:cs typeface="+mn-cs"/>
              </a:rPr>
              <a:t>  &lt;title&gt;My Website&lt;/title&gt;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B050"/>
                </a:solidFill>
                <a:effectLst/>
                <a:uLnTx/>
                <a:uFillTx/>
                <a:latin typeface="Calibri" panose="020F0502020204030204"/>
                <a:ea typeface="+mn-ea"/>
                <a:cs typeface="+mn-cs"/>
              </a:rPr>
              <a:t>&lt;/head&gt;</a:t>
            </a:r>
            <a:endPar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46626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{33BAE8BF-74EA-4BC5-A856-9F954496E33C}TFb5ae2469-0bae-4978-b0e0-39dd046150ff9a115ede-a9c3cc5252b0</Template>
  <TotalTime>173</TotalTime>
  <Words>567</Words>
  <Application>Microsoft Office PowerPoint</Application>
  <PresentationFormat>Widescreen</PresentationFormat>
  <Paragraphs>73</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Algerian</vt:lpstr>
      <vt:lpstr>Arial</vt:lpstr>
      <vt:lpstr>Arial Black</vt:lpstr>
      <vt:lpstr>Arial Narrow</vt:lpstr>
      <vt:lpstr>Arial Rounded MT Bold</vt:lpstr>
      <vt:lpstr>Calibri</vt:lpstr>
      <vt:lpstr>Calibri Light</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Ndi Jeff</dc:creator>
  <cp:lastModifiedBy>Ndi Jeff</cp:lastModifiedBy>
  <cp:revision>1</cp:revision>
  <dcterms:created xsi:type="dcterms:W3CDTF">2026-03-04T16:38:10Z</dcterms:created>
  <dcterms:modified xsi:type="dcterms:W3CDTF">2026-03-04T19:31:45Z</dcterms:modified>
</cp:coreProperties>
</file>